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E53935"/>
                </a:solidFill>
              </a:defRPr>
            </a:pPr>
            <a:r>
              <a:t>LEMiNO MASTER STORYBOARD SPECIFICATION</a:t>
            </a:r>
          </a:p>
          <a:p>
            <a:pPr>
              <a:defRPr sz="3600" b="1">
                <a:solidFill>
                  <a:srgbClr val="F5F5F5"/>
                </a:solidFill>
              </a:defRPr>
            </a:pPr>
            <a:r>
              <a:t>ASSASSIN'S CREED: UNITY</a:t>
            </a:r>
          </a:p>
          <a:p>
            <a:pPr>
              <a:spcAft>
                <a:spcPts val="2000"/>
              </a:spcAft>
              <a:defRPr sz="1600">
                <a:solidFill>
                  <a:srgbClr val="FFB300"/>
                </a:solidFill>
              </a:defRPr>
            </a:pPr>
            <a:r>
              <a:t>The Missing Faces, The 1:1 Paris Engine &amp; The Fall of the Annual Franchise (2014–2019)</a:t>
            </a:r>
          </a:p>
          <a:p>
            <a:pPr>
              <a:defRPr sz="1100">
                <a:solidFill>
                  <a:srgbClr val="A0AAB9"/>
                </a:solidFill>
              </a:defRPr>
            </a:pPr>
            <a:r>
              <a:t>• Optimized Runtime: 15:00.0 (Exactly 900.0 Seconds, Continuous Timeline)</a:t>
            </a:r>
            <a:br/>
            <a:r>
              <a:t>• 15 LEMiNO Shot Types Framework with Strict 3.5s - 8s Pacing</a:t>
            </a:r>
            <a:br/>
            <a:r>
              <a:t>• Multi-Source Production: HyperFrames AI + YouTube Clip Cuts + 2.5D Motion Stills</a:t>
            </a:r>
            <a:br/>
            <a:r>
              <a:t>• High-Fidelity Visual Screen Shots Embedded</a:t>
            </a:r>
          </a:p>
        </p:txBody>
      </p:sp>
      <p:pic>
        <p:nvPicPr>
          <p:cNvPr id="3" name="Picture 2" descr="s01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80160"/>
            <a:ext cx="5029200" cy="28289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65760"/>
          </a:xfrm>
          <a:prstGeom prst="roundRect">
            <a:avLst/>
          </a:prstGeom>
          <a:solidFill>
            <a:srgbClr val="E53935"/>
          </a:solidFill>
          <a:ln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5F5"/>
                </a:solidFill>
              </a:defRPr>
            </a:pPr>
            <a:r>
              <a:t>PRODUCTION METHODOLOGY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40480" y="365760"/>
            <a:ext cx="2560320" cy="365760"/>
          </a:xfrm>
          <a:prstGeom prst="roundRect">
            <a:avLst/>
          </a:prstGeom>
          <a:solidFill>
            <a:srgbClr val="161B24"/>
          </a:solidFill>
          <a:ln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6C6DA"/>
                </a:solidFill>
              </a:defRPr>
            </a:pPr>
            <a:r>
              <a:t>15 Shot Types &amp; Asset Sourcing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200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A0AAB9"/>
                </a:solidFill>
              </a:defRPr>
            </a:pPr>
            <a:r>
              <a:t>02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B300"/>
                </a:solidFill>
              </a:defRPr>
            </a:pPr>
            <a:r>
              <a:t>3-PILLAR ASSET SOURCING PIPELINE</a:t>
            </a:r>
          </a:p>
          <a:p>
            <a:pPr>
              <a:defRPr sz="1100" b="1">
                <a:solidFill>
                  <a:srgbClr val="26C6DA"/>
                </a:solidFill>
              </a:defRPr>
            </a:pPr>
            <a:r>
              <a:t>1. [Source: HyperFrames AI Generation]</a:t>
            </a:r>
          </a:p>
          <a:p>
            <a:pPr>
              <a:spcAft>
                <a:spcPts val="800"/>
              </a:spcAft>
              <a:defRPr sz="1000">
                <a:solidFill>
                  <a:srgbClr val="F5F5F5"/>
                </a:solidFill>
              </a:defRPr>
            </a:pPr>
            <a:r>
              <a:t>ใช้สร้างช็อตเปิดตัว Cinematic Establishing, ช็อตจินตนาการ Abstract Concept และ Motion Graphics Typography คำต่อคำ</a:t>
            </a:r>
          </a:p>
          <a:p>
            <a:pPr>
              <a:defRPr sz="1100" b="1">
                <a:solidFill>
                  <a:srgbClr val="26C6DA"/>
                </a:solidFill>
              </a:defRPr>
            </a:pPr>
            <a:r>
              <a:t>2. [Source: YouTube Clip Cut]</a:t>
            </a:r>
          </a:p>
          <a:p>
            <a:pPr>
              <a:spcAft>
                <a:spcPts val="800"/>
              </a:spcAft>
              <a:defRPr sz="1000">
                <a:solidFill>
                  <a:srgbClr val="F5F5F5"/>
                </a:solidFill>
              </a:defRPr>
            </a:pPr>
            <a:r>
              <a:t>ใช้ตัดฟุตเทจจากคลิปยูทูบจริง: งาน E3 2014, เกมเพลย์บั๊ก No-Face ดั้งเดิม, เบนช์มาร์ก Digital Foundry และฟุตเทจข่าวไฟไหม้น็อทร์-ดาม 2019</a:t>
            </a:r>
          </a:p>
          <a:p>
            <a:pPr>
              <a:defRPr sz="1100" b="1">
                <a:solidFill>
                  <a:srgbClr val="26C6DA"/>
                </a:solidFill>
              </a:defRPr>
            </a:pPr>
            <a:r>
              <a:t>3. [Source: Archival Still + 2.5D Motion]</a:t>
            </a:r>
          </a:p>
          <a:p>
            <a:pPr>
              <a:spcAft>
                <a:spcPts val="800"/>
              </a:spcAft>
              <a:defRPr sz="1000">
                <a:solidFill>
                  <a:srgbClr val="F5F5F5"/>
                </a:solidFill>
              </a:defRPr>
            </a:pPr>
            <a:r>
              <a:t>ใช้สำหรับภาพพิมพ์ประวัติศาสตร์ปี 1789, กราฟราคาหุ้น, เอกสารจดหมายขอโทษ และพิมพ์เขียวสถาปัตยกรรม โดยใส่ Depth Map และ 2.5D Parallax Camera</a:t>
            </a:r>
          </a:p>
        </p:txBody>
      </p:sp>
      <p:pic>
        <p:nvPicPr>
          <p:cNvPr id="6" name="Picture 5" descr="s02_taxon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80160"/>
            <a:ext cx="5029200" cy="28289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65760"/>
          </a:xfrm>
          <a:prstGeom prst="roundRect">
            <a:avLst/>
          </a:prstGeom>
          <a:solidFill>
            <a:srgbClr val="E53935"/>
          </a:solidFill>
          <a:ln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5F5"/>
                </a:solidFill>
              </a:defRPr>
            </a:pPr>
            <a:r>
              <a:t>ACT I: FRENCH REVOLUTION DREAM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40480" y="365760"/>
            <a:ext cx="2560320" cy="365760"/>
          </a:xfrm>
          <a:prstGeom prst="roundRect">
            <a:avLst/>
          </a:prstGeom>
          <a:solidFill>
            <a:srgbClr val="161B24"/>
          </a:solidFill>
          <a:ln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6C6DA"/>
                </a:solidFill>
              </a:defRPr>
            </a:pPr>
            <a:r>
              <a:t>00:00 - 01:15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200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A0AAB9"/>
                </a:solidFill>
              </a:defRPr>
            </a:pPr>
            <a:r>
              <a:t>03 / 15</a:t>
            </a:r>
          </a:p>
        </p:txBody>
      </p:sp>
      <p:pic>
        <p:nvPicPr>
          <p:cNvPr id="5" name="Picture 4" descr="s03_act1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5120640" cy="2880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126480" y="1188720"/>
            <a:ext cx="5303520" cy="5120640"/>
          </a:xfrm>
          <a:prstGeom prst="roundRect">
            <a:avLst/>
          </a:prstGeom>
          <a:solidFill>
            <a:srgbClr val="161B24"/>
          </a:solidFill>
          <a:ln w="12700"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300" b="1">
                <a:solidFill>
                  <a:srgbClr val="FFB300"/>
                </a:solidFill>
              </a:defRPr>
            </a:pPr>
            <a:r>
              <a:t>KEY SHOT: SHOT 01.1  •  CINEMATIC ESTABLISHING</a:t>
            </a:r>
          </a:p>
          <a:p>
            <a:pPr>
              <a:spcAft>
                <a:spcPts val="1000"/>
              </a:spcAft>
              <a:defRPr sz="1100" b="1">
                <a:solidFill>
                  <a:srgbClr val="26C6DA"/>
                </a:solidFill>
              </a:defRPr>
            </a:pPr>
            <a:r>
              <a:t>ASSET SOURCE: [Source: HyperFrames AI Generation]</a:t>
            </a:r>
          </a:p>
          <a:p>
            <a:pPr>
              <a:spcAft>
                <a:spcPts val="800"/>
              </a:spcAft>
              <a:defRPr sz="1000">
                <a:solidFill>
                  <a:srgbClr val="F5F5F5"/>
                </a:solidFill>
              </a:defRPr>
            </a:pPr>
            <a:r>
              <a:t>🎬 Visual Direction:</a:t>
            </a:r>
            <a:br/>
            <a:r>
              <a:t>โดรนบินกวาดผ่านหลังคากรุงปารีสปี 1789 ท่ามกลางหมอกเช้า เห็นเงาเงื้อมของมหาวิหารน็อทร์-ดามในหมอกหนา</a:t>
            </a:r>
          </a:p>
          <a:p>
            <a:pPr>
              <a:spcAft>
                <a:spcPts val="800"/>
              </a:spcAft>
              <a:defRPr sz="1000">
                <a:solidFill>
                  <a:srgbClr val="A0AAB9"/>
                </a:solidFill>
              </a:defRPr>
            </a:pPr>
            <a:r>
              <a:t>🎙️ Narration Sync (Thai):</a:t>
            </a:r>
            <a:br/>
            <a:r>
              <a:t>“หากคุณเคยยืนอยู่ท่ามกลางประวัติศาสตร์... คุณจะรู้ว่าความยิ่งใหญ่และความพังทลาย มักเริ่มต้นจากความทะเยอทะยานที่มากเกินไป...”</a:t>
            </a:r>
          </a:p>
          <a:p>
            <a:pPr>
              <a:defRPr sz="1000">
                <a:solidFill>
                  <a:srgbClr val="26C6DA"/>
                </a:solidFill>
              </a:defRPr>
            </a:pPr>
            <a:r>
              <a:t>🔊 Sound Design &amp; Music:</a:t>
            </a:r>
            <a:br/>
            <a:r>
              <a:t>เสียงลมหนาวหวีดหวิว, ระฆังโบสถ์ไกลๆ, ซับเบสดรอปสร้างความลึกลับ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65760"/>
          </a:xfrm>
          <a:prstGeom prst="roundRect">
            <a:avLst/>
          </a:prstGeom>
          <a:solidFill>
            <a:srgbClr val="E53935"/>
          </a:solidFill>
          <a:ln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5F5"/>
                </a:solidFill>
              </a:defRPr>
            </a:pPr>
            <a:r>
              <a:t>ACT I: FRENCH REVOLUTION DREAM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40480" y="365760"/>
            <a:ext cx="2560320" cy="365760"/>
          </a:xfrm>
          <a:prstGeom prst="roundRect">
            <a:avLst/>
          </a:prstGeom>
          <a:solidFill>
            <a:srgbClr val="161B24"/>
          </a:solidFill>
          <a:ln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6C6DA"/>
                </a:solidFill>
              </a:defRPr>
            </a:pPr>
            <a:r>
              <a:t>01:15 - 02:30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200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A0AAB9"/>
                </a:solidFill>
              </a:defRPr>
            </a:pPr>
            <a:r>
              <a:t>04 / 15</a:t>
            </a:r>
          </a:p>
        </p:txBody>
      </p:sp>
      <p:pic>
        <p:nvPicPr>
          <p:cNvPr id="5" name="Picture 4" descr="s04_act1_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5120640" cy="2880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126480" y="1188720"/>
            <a:ext cx="5303520" cy="5120640"/>
          </a:xfrm>
          <a:prstGeom prst="roundRect">
            <a:avLst/>
          </a:prstGeom>
          <a:solidFill>
            <a:srgbClr val="161B24"/>
          </a:solidFill>
          <a:ln w="12700"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300" b="1">
                <a:solidFill>
                  <a:srgbClr val="FFB300"/>
                </a:solidFill>
              </a:defRPr>
            </a:pPr>
            <a:r>
              <a:t>KEY SHOT: SHOT 01.7  •  DIAGRAM EXPLAINER</a:t>
            </a:r>
          </a:p>
          <a:p>
            <a:pPr>
              <a:spcAft>
                <a:spcPts val="1000"/>
              </a:spcAft>
              <a:defRPr sz="1100" b="1">
                <a:solidFill>
                  <a:srgbClr val="26C6DA"/>
                </a:solidFill>
              </a:defRPr>
            </a:pPr>
            <a:r>
              <a:t>ASSET SOURCE: [Source: Archival Still + 2.5D Motion]</a:t>
            </a:r>
          </a:p>
          <a:p>
            <a:pPr>
              <a:spcAft>
                <a:spcPts val="800"/>
              </a:spcAft>
              <a:defRPr sz="1000">
                <a:solidFill>
                  <a:srgbClr val="F5F5F5"/>
                </a:solidFill>
              </a:defRPr>
            </a:pPr>
            <a:r>
              <a:t>🎬 Visual Direction:</a:t>
            </a:r>
            <a:br/>
            <a:r>
              <a:t>พิมพ์เขียว 3D ปารีสสเกล 1:1 แสดงอาคาร 1 ใน 4 หลังที่มีห้องตกแต่งภายในสมบูรณ์ เดินทะลุได้โดยไม่มีโหลดดิ้ง</a:t>
            </a:r>
          </a:p>
          <a:p>
            <a:pPr>
              <a:spcAft>
                <a:spcPts val="800"/>
              </a:spcAft>
              <a:defRPr sz="1000">
                <a:solidFill>
                  <a:srgbClr val="A0AAB9"/>
                </a:solidFill>
              </a:defRPr>
            </a:pPr>
            <a:r>
              <a:t>🎙️ Narration Sync (Thai):</a:t>
            </a:r>
            <a:br/>
            <a:r>
              <a:t>“AnvilNext 2.0 ทำให้ปารีสทั้งเมืองกลายเป็นโลกไร้รอยต่อ พร้อมฝูงชน AI จำลองกว่า 5,000 คนบนจอพร้อมกัน...”</a:t>
            </a:r>
          </a:p>
          <a:p>
            <a:pPr>
              <a:defRPr sz="1000">
                <a:solidFill>
                  <a:srgbClr val="26C6DA"/>
                </a:solidFill>
              </a:defRPr>
            </a:pPr>
            <a:r>
              <a:t>🔊 Sound Design &amp; Music:</a:t>
            </a:r>
            <a:br/>
            <a:r>
              <a:t>เสียงสแกนความถี่ดิจิทัล, เสียงเซอร์โวมอเตอร์ทำงาน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65760"/>
          </a:xfrm>
          <a:prstGeom prst="roundRect">
            <a:avLst/>
          </a:prstGeom>
          <a:solidFill>
            <a:srgbClr val="E53935"/>
          </a:solidFill>
          <a:ln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5F5"/>
                </a:solidFill>
              </a:defRPr>
            </a:pPr>
            <a:r>
              <a:t>ACT II: THE NO-FACE NIGHTMARE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40480" y="365760"/>
            <a:ext cx="2560320" cy="365760"/>
          </a:xfrm>
          <a:prstGeom prst="roundRect">
            <a:avLst/>
          </a:prstGeom>
          <a:solidFill>
            <a:srgbClr val="161B24"/>
          </a:solidFill>
          <a:ln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6C6DA"/>
                </a:solidFill>
              </a:defRPr>
            </a:pPr>
            <a:r>
              <a:t>02:30 - 03:45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200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A0AAB9"/>
                </a:solidFill>
              </a:defRPr>
            </a:pPr>
            <a:r>
              <a:t>05 / 15</a:t>
            </a:r>
          </a:p>
        </p:txBody>
      </p:sp>
      <p:pic>
        <p:nvPicPr>
          <p:cNvPr id="5" name="Picture 4" descr="s05_act2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5120640" cy="2880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126480" y="1188720"/>
            <a:ext cx="5303520" cy="5120640"/>
          </a:xfrm>
          <a:prstGeom prst="roundRect">
            <a:avLst/>
          </a:prstGeom>
          <a:solidFill>
            <a:srgbClr val="161B24"/>
          </a:solidFill>
          <a:ln w="12700"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300" b="1">
                <a:solidFill>
                  <a:srgbClr val="FFB300"/>
                </a:solidFill>
              </a:defRPr>
            </a:pPr>
            <a:r>
              <a:t>KEY SHOT: SHOT 03.1  •  ARCHIVAL EVIDENCE</a:t>
            </a:r>
          </a:p>
          <a:p>
            <a:pPr>
              <a:spcAft>
                <a:spcPts val="1000"/>
              </a:spcAft>
              <a:defRPr sz="1100" b="1">
                <a:solidFill>
                  <a:srgbClr val="26C6DA"/>
                </a:solidFill>
              </a:defRPr>
            </a:pPr>
            <a:r>
              <a:t>ASSET SOURCE: [Source: YouTube Clip Cut]</a:t>
            </a:r>
          </a:p>
          <a:p>
            <a:pPr>
              <a:spcAft>
                <a:spcPts val="800"/>
              </a:spcAft>
              <a:defRPr sz="1000">
                <a:solidFill>
                  <a:srgbClr val="F5F5F5"/>
                </a:solidFill>
              </a:defRPr>
            </a:pPr>
            <a:r>
              <a:t>🎬 Visual Direction:</a:t>
            </a:r>
            <a:br/>
            <a:r>
              <a:t>คลิปบันทึกจอ CRT แสดงบั๊ก No-Face ใบหน้าตัวละครไร้ผิวหนัง เหลือเพียงลูกตาและฟันเหงือกลอยได้ ขยับพูดบทสนทนา</a:t>
            </a:r>
          </a:p>
          <a:p>
            <a:pPr>
              <a:spcAft>
                <a:spcPts val="800"/>
              </a:spcAft>
              <a:defRPr sz="1000">
                <a:solidFill>
                  <a:srgbClr val="A0AAB9"/>
                </a:solidFill>
              </a:defRPr>
            </a:pPr>
            <a:r>
              <a:t>🎙️ Narration Sync (Thai):</a:t>
            </a:r>
            <a:br/>
            <a:r>
              <a:t>“ในฉากคัตซีนจริงจัง ใบหน้าตัวละครกลับไม่มีผิวหนัง เหลือเพียงลูกตากับฟันเหงือกสีแดงสดลอยเคว้งคว้าง กลายเป็นมีมไวรัลสะเทือนโลก...”</a:t>
            </a:r>
          </a:p>
          <a:p>
            <a:pPr>
              <a:defRPr sz="1000">
                <a:solidFill>
                  <a:srgbClr val="26C6DA"/>
                </a:solidFill>
              </a:defRPr>
            </a:pPr>
            <a:r>
              <a:t>🔊 Sound Design &amp; Music:</a:t>
            </a:r>
            <a:br/>
            <a:r>
              <a:t>เสียงฮิสของเทปอนาล็อก, บทสนทนาในเกมที่ถูกลดทอน, เสียงสัญญาณรบกวน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65760"/>
          </a:xfrm>
          <a:prstGeom prst="roundRect">
            <a:avLst/>
          </a:prstGeom>
          <a:solidFill>
            <a:srgbClr val="E53935"/>
          </a:solidFill>
          <a:ln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5F5"/>
                </a:solidFill>
              </a:defRPr>
            </a:pPr>
            <a:r>
              <a:t>ACT II: THE NO-FACE NIGHTMARE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40480" y="365760"/>
            <a:ext cx="2560320" cy="365760"/>
          </a:xfrm>
          <a:prstGeom prst="roundRect">
            <a:avLst/>
          </a:prstGeom>
          <a:solidFill>
            <a:srgbClr val="161B24"/>
          </a:solidFill>
          <a:ln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6C6DA"/>
                </a:solidFill>
              </a:defRPr>
            </a:pPr>
            <a:r>
              <a:t>03:45 - 05:00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200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A0AAB9"/>
                </a:solidFill>
              </a:defRPr>
            </a:pPr>
            <a:r>
              <a:t>06 / 15</a:t>
            </a:r>
          </a:p>
        </p:txBody>
      </p:sp>
      <p:pic>
        <p:nvPicPr>
          <p:cNvPr id="5" name="Picture 4" descr="s06_act2_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5120640" cy="2880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126480" y="1188720"/>
            <a:ext cx="5303520" cy="5120640"/>
          </a:xfrm>
          <a:prstGeom prst="roundRect">
            <a:avLst/>
          </a:prstGeom>
          <a:solidFill>
            <a:srgbClr val="161B24"/>
          </a:solidFill>
          <a:ln w="12700"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300" b="1">
                <a:solidFill>
                  <a:srgbClr val="FFB300"/>
                </a:solidFill>
              </a:defRPr>
            </a:pPr>
            <a:r>
              <a:t>KEY SHOT: SHOT 04.1  •  DATA VISUALIZATION</a:t>
            </a:r>
          </a:p>
          <a:p>
            <a:pPr>
              <a:spcAft>
                <a:spcPts val="1000"/>
              </a:spcAft>
              <a:defRPr sz="1100" b="1">
                <a:solidFill>
                  <a:srgbClr val="26C6DA"/>
                </a:solidFill>
              </a:defRPr>
            </a:pPr>
            <a:r>
              <a:t>ASSET SOURCE: [Source: YouTube Clip Cut / Digital Foundry]</a:t>
            </a:r>
          </a:p>
          <a:p>
            <a:pPr>
              <a:spcAft>
                <a:spcPts val="800"/>
              </a:spcAft>
              <a:defRPr sz="1000">
                <a:solidFill>
                  <a:srgbClr val="F5F5F5"/>
                </a:solidFill>
              </a:defRPr>
            </a:pPr>
            <a:r>
              <a:t>🎬 Visual Direction:</a:t>
            </a:r>
            <a:br/>
            <a:r>
              <a:t>การทดสอบเบนช์มาร์กเฟรมเรต Digital Foundry ในฉากจลาจล กราฟดิ่งฮวบจาก 30 FPS ลงมาเหลือเพียง 15.2 FPS</a:t>
            </a:r>
          </a:p>
          <a:p>
            <a:pPr>
              <a:spcAft>
                <a:spcPts val="800"/>
              </a:spcAft>
              <a:defRPr sz="1000">
                <a:solidFill>
                  <a:srgbClr val="A0AAB9"/>
                </a:solidFill>
              </a:defRPr>
            </a:pPr>
            <a:r>
              <a:t>🎙️ Narration Sync (Thai):</a:t>
            </a:r>
            <a:br/>
            <a:r>
              <a:t>“บนคอนโซล PS4 และ Xbox One ตัวเกมกระตุกจนกลายเป็นสไลด์โชว์ 15 เฟรมต่อวินาที ตัวละครทะลุพื้นตกลงสู่ความว่างเปล่า...”</a:t>
            </a:r>
          </a:p>
          <a:p>
            <a:pPr>
              <a:defRPr sz="1000">
                <a:solidFill>
                  <a:srgbClr val="26C6DA"/>
                </a:solidFill>
              </a:defRPr>
            </a:pPr>
            <a:r>
              <a:t>🔊 Sound Design &amp; Music:</a:t>
            </a:r>
            <a:br/>
            <a:r>
              <a:t>เสียงมาตรวัดข้อมูลกระตุก, เสียงสัญญาณเตือนความถี่ต่ำ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65760"/>
          </a:xfrm>
          <a:prstGeom prst="roundRect">
            <a:avLst/>
          </a:prstGeom>
          <a:solidFill>
            <a:srgbClr val="E53935"/>
          </a:solidFill>
          <a:ln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5F5"/>
                </a:solidFill>
              </a:defRPr>
            </a:pPr>
            <a:r>
              <a:t>ACT III: FORENSIC CODE BREAKDOWN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40480" y="365760"/>
            <a:ext cx="2560320" cy="365760"/>
          </a:xfrm>
          <a:prstGeom prst="roundRect">
            <a:avLst/>
          </a:prstGeom>
          <a:solidFill>
            <a:srgbClr val="161B24"/>
          </a:solidFill>
          <a:ln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6C6DA"/>
                </a:solidFill>
              </a:defRPr>
            </a:pPr>
            <a:r>
              <a:t>05:00 - 06:20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200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A0AAB9"/>
                </a:solidFill>
              </a:defRPr>
            </a:pPr>
            <a:r>
              <a:t>07 / 15</a:t>
            </a:r>
          </a:p>
        </p:txBody>
      </p:sp>
      <p:pic>
        <p:nvPicPr>
          <p:cNvPr id="5" name="Picture 4" descr="s07_act3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5120640" cy="2880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126480" y="1188720"/>
            <a:ext cx="5303520" cy="5120640"/>
          </a:xfrm>
          <a:prstGeom prst="roundRect">
            <a:avLst/>
          </a:prstGeom>
          <a:solidFill>
            <a:srgbClr val="161B24"/>
          </a:solidFill>
          <a:ln w="12700"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300" b="1">
                <a:solidFill>
                  <a:srgbClr val="FFB300"/>
                </a:solidFill>
              </a:defRPr>
            </a:pPr>
            <a:r>
              <a:t>KEY SHOT: SHOT 05.1  •  DIAGRAM EXPLAINER</a:t>
            </a:r>
          </a:p>
          <a:p>
            <a:pPr>
              <a:spcAft>
                <a:spcPts val="1000"/>
              </a:spcAft>
              <a:defRPr sz="1100" b="1">
                <a:solidFill>
                  <a:srgbClr val="26C6DA"/>
                </a:solidFill>
              </a:defRPr>
            </a:pPr>
            <a:r>
              <a:t>ASSET SOURCE: [Source: Archival Still + 2.5D Motion]</a:t>
            </a:r>
          </a:p>
          <a:p>
            <a:pPr>
              <a:spcAft>
                <a:spcPts val="800"/>
              </a:spcAft>
              <a:defRPr sz="1000">
                <a:solidFill>
                  <a:srgbClr val="F5F5F5"/>
                </a:solidFill>
              </a:defRPr>
            </a:pPr>
            <a:r>
              <a:t>🎬 Visual Direction:</a:t>
            </a:r>
            <a:br/>
            <a:r>
              <a:t>แผนผังผ่าสถาปัตยกรรมชิป AMD Jaguar 8-Core 1.6 GHz แสดงแกนสมอง CPU ทำงานทะลุ 100% จากการคำนวณฝูงชน 5,000 คน</a:t>
            </a:r>
          </a:p>
          <a:p>
            <a:pPr>
              <a:spcAft>
                <a:spcPts val="800"/>
              </a:spcAft>
              <a:defRPr sz="1000">
                <a:solidFill>
                  <a:srgbClr val="A0AAB9"/>
                </a:solidFill>
              </a:defRPr>
            </a:pPr>
            <a:r>
              <a:t>🎙️ Narration Sync (Thai):</a:t>
            </a:r>
            <a:br/>
            <a:r>
              <a:t>“ปัญหาไม่ได้อยู่ที่การ์ดจอ แต่อยู่ที่ CPU Jaguar 1.6 GHz ที่ถูกบังคับให้คำนวณการเดินและฟิสิกส์ของคน 5,000 คนพร้อมกันจนสำลัก...”</a:t>
            </a:r>
          </a:p>
          <a:p>
            <a:pPr>
              <a:defRPr sz="1000">
                <a:solidFill>
                  <a:srgbClr val="26C6DA"/>
                </a:solidFill>
              </a:defRPr>
            </a:pPr>
            <a:r>
              <a:t>🔊 Sound Design &amp; Music:</a:t>
            </a:r>
            <a:br/>
            <a:r>
              <a:t>เสียงสตรีมมิงบัสข้อมูล, เสียงหวีดแหลมของวงจรอิเล็กทรอนิกส์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65760"/>
          </a:xfrm>
          <a:prstGeom prst="roundRect">
            <a:avLst/>
          </a:prstGeom>
          <a:solidFill>
            <a:srgbClr val="E53935"/>
          </a:solidFill>
          <a:ln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5F5"/>
                </a:solidFill>
              </a:defRPr>
            </a:pPr>
            <a:r>
              <a:t>ACT III: FORENSIC CODE BREAKDOWN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40480" y="365760"/>
            <a:ext cx="2560320" cy="365760"/>
          </a:xfrm>
          <a:prstGeom prst="roundRect">
            <a:avLst/>
          </a:prstGeom>
          <a:solidFill>
            <a:srgbClr val="161B24"/>
          </a:solidFill>
          <a:ln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6C6DA"/>
                </a:solidFill>
              </a:defRPr>
            </a:pPr>
            <a:r>
              <a:t>06:20 - 07:45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200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A0AAB9"/>
                </a:solidFill>
              </a:defRPr>
            </a:pPr>
            <a:r>
              <a:t>08 / 15</a:t>
            </a:r>
          </a:p>
        </p:txBody>
      </p:sp>
      <p:pic>
        <p:nvPicPr>
          <p:cNvPr id="5" name="Picture 4" descr="s08_act3_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5120640" cy="2880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126480" y="1188720"/>
            <a:ext cx="5303520" cy="5120640"/>
          </a:xfrm>
          <a:prstGeom prst="roundRect">
            <a:avLst/>
          </a:prstGeom>
          <a:solidFill>
            <a:srgbClr val="161B24"/>
          </a:solidFill>
          <a:ln w="12700"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300" b="1">
                <a:solidFill>
                  <a:srgbClr val="FFB300"/>
                </a:solidFill>
              </a:defRPr>
            </a:pPr>
            <a:r>
              <a:t>KEY SHOT: SHOT 05.2  •  DIAGRAM EXPLAINER</a:t>
            </a:r>
          </a:p>
          <a:p>
            <a:pPr>
              <a:spcAft>
                <a:spcPts val="1000"/>
              </a:spcAft>
              <a:defRPr sz="1100" b="1">
                <a:solidFill>
                  <a:srgbClr val="26C6DA"/>
                </a:solidFill>
              </a:defRPr>
            </a:pPr>
            <a:r>
              <a:t>ASSET SOURCE: [Source: HyperFrames AI Generation]</a:t>
            </a:r>
          </a:p>
          <a:p>
            <a:pPr>
              <a:spcAft>
                <a:spcPts val="800"/>
              </a:spcAft>
              <a:defRPr sz="1000">
                <a:solidFill>
                  <a:srgbClr val="F5F5F5"/>
                </a:solidFill>
              </a:defRPr>
            </a:pPr>
            <a:r>
              <a:t>🎬 Visual Direction:</a:t>
            </a:r>
            <a:br/>
            <a:r>
              <a:t>โฟลว์ชาร์ตแสดงคำสั่ง Draw Calls ทะลุ 52,000 คำสั่งต่อเฟรมบน DirectX 11 และการล็อกความละเอียด 900p Parity</a:t>
            </a:r>
          </a:p>
          <a:p>
            <a:pPr>
              <a:spcAft>
                <a:spcPts val="800"/>
              </a:spcAft>
              <a:defRPr sz="1000">
                <a:solidFill>
                  <a:srgbClr val="A0AAB9"/>
                </a:solidFill>
              </a:defRPr>
            </a:pPr>
            <a:r>
              <a:t>🎙️ Narration Sync (Thai):</a:t>
            </a:r>
            <a:br/>
            <a:r>
              <a:t>“ตัวเกมส่งคำสั่งวาดภาพมากกว่า 50,000 ครั้งในทุกวินาที เกินขีดจำกัดของไดรเวอร์ ซีพียูจึงส่งข้อมูลให้การ์ดจอวาดภาพไม่ทัน...”</a:t>
            </a:r>
          </a:p>
          <a:p>
            <a:pPr>
              <a:defRPr sz="1000">
                <a:solidFill>
                  <a:srgbClr val="26C6DA"/>
                </a:solidFill>
              </a:defRPr>
            </a:pPr>
            <a:r>
              <a:t>🔊 Sound Design &amp; Music:</a:t>
            </a:r>
            <a:br/>
            <a:r>
              <a:t>เสียงสัญญาณบัฟเฟอร์เอ่อล้น, คอร์ดเปียโนทุ้มต่ำลึก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65760"/>
          </a:xfrm>
          <a:prstGeom prst="roundRect">
            <a:avLst/>
          </a:prstGeom>
          <a:solidFill>
            <a:srgbClr val="E53935"/>
          </a:solidFill>
          <a:ln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5F5"/>
                </a:solidFill>
              </a:defRPr>
            </a:pPr>
            <a:r>
              <a:t>ACT IV: THE APOLOGY &amp; CONCESSIONS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40480" y="365760"/>
            <a:ext cx="2560320" cy="365760"/>
          </a:xfrm>
          <a:prstGeom prst="roundRect">
            <a:avLst/>
          </a:prstGeom>
          <a:solidFill>
            <a:srgbClr val="161B24"/>
          </a:solidFill>
          <a:ln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6C6DA"/>
                </a:solidFill>
              </a:defRPr>
            </a:pPr>
            <a:r>
              <a:t>07:45 - 09:00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200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A0AAB9"/>
                </a:solidFill>
              </a:defRPr>
            </a:pPr>
            <a:r>
              <a:t>09 / 15</a:t>
            </a:r>
          </a:p>
        </p:txBody>
      </p:sp>
      <p:pic>
        <p:nvPicPr>
          <p:cNvPr id="5" name="Picture 4" descr="s09_act4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5120640" cy="2880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126480" y="1188720"/>
            <a:ext cx="5303520" cy="5120640"/>
          </a:xfrm>
          <a:prstGeom prst="roundRect">
            <a:avLst/>
          </a:prstGeom>
          <a:solidFill>
            <a:srgbClr val="161B24"/>
          </a:solidFill>
          <a:ln w="12700"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300" b="1">
                <a:solidFill>
                  <a:srgbClr val="FFB300"/>
                </a:solidFill>
              </a:defRPr>
            </a:pPr>
            <a:r>
              <a:t>KEY SHOT: SHOT 07.1  •  ARCHIVAL EVIDENCE</a:t>
            </a:r>
          </a:p>
          <a:p>
            <a:pPr>
              <a:spcAft>
                <a:spcPts val="1000"/>
              </a:spcAft>
              <a:defRPr sz="1100" b="1">
                <a:solidFill>
                  <a:srgbClr val="26C6DA"/>
                </a:solidFill>
              </a:defRPr>
            </a:pPr>
            <a:r>
              <a:t>ASSET SOURCE: [Source: Archival Still + 2.5D Motion]</a:t>
            </a:r>
          </a:p>
          <a:p>
            <a:pPr>
              <a:spcAft>
                <a:spcPts val="800"/>
              </a:spcAft>
              <a:defRPr sz="1000">
                <a:solidFill>
                  <a:srgbClr val="F5F5F5"/>
                </a:solidFill>
              </a:defRPr>
            </a:pPr>
            <a:r>
              <a:t>🎬 Visual Direction:</a:t>
            </a:r>
            <a:br/>
            <a:r>
              <a:t>จดหมายเปิดผนึกของซีอีโอ Yannis Mallat บนหน้าเว็บ Ubisoft ยอมรับข้อผิดพลาดอย่างหมดรูป พร้อมแจก DLC Dead Kings ฟรี</a:t>
            </a:r>
          </a:p>
          <a:p>
            <a:pPr>
              <a:spcAft>
                <a:spcPts val="800"/>
              </a:spcAft>
              <a:defRPr sz="1000">
                <a:solidFill>
                  <a:srgbClr val="A0AAB9"/>
                </a:solidFill>
              </a:defRPr>
            </a:pPr>
            <a:r>
              <a:t>🎙️ Narration Sync (Thai):</a:t>
            </a:r>
            <a:br/>
            <a:r>
              <a:t>“ยานนิส มัลลัต ออกจดหมายขอโทษอย่างเป็นทางการ พร้อมยกเลิกการขาย DLC Dead Kings และแจกให้ผู้เล่นทุกคนบนโลกฟรี...”</a:t>
            </a:r>
          </a:p>
          <a:p>
            <a:pPr>
              <a:defRPr sz="1000">
                <a:solidFill>
                  <a:srgbClr val="26C6DA"/>
                </a:solidFill>
              </a:defRPr>
            </a:pPr>
            <a:r>
              <a:t>🔊 Sound Design &amp; Music:</a:t>
            </a:r>
            <a:br/>
            <a:r>
              <a:t>เสียงเปิดหน้ากระดาษนุ่มนวล, ท่วงทำนองเชลโลบรรเลงช้าๆ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65760"/>
          </a:xfrm>
          <a:prstGeom prst="roundRect">
            <a:avLst/>
          </a:prstGeom>
          <a:solidFill>
            <a:srgbClr val="E53935"/>
          </a:solidFill>
          <a:ln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5F5"/>
                </a:solidFill>
              </a:defRPr>
            </a:pPr>
            <a:r>
              <a:t>ACT IV: THE APOLOGY &amp; CONCESSIONS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40480" y="365760"/>
            <a:ext cx="2560320" cy="365760"/>
          </a:xfrm>
          <a:prstGeom prst="roundRect">
            <a:avLst/>
          </a:prstGeom>
          <a:solidFill>
            <a:srgbClr val="161B24"/>
          </a:solidFill>
          <a:ln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6C6DA"/>
                </a:solidFill>
              </a:defRPr>
            </a:pPr>
            <a:r>
              <a:t>09:00 - 10:15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200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A0AAB9"/>
                </a:solidFill>
              </a:defRPr>
            </a:pPr>
            <a:r>
              <a:t>10 / 15</a:t>
            </a:r>
          </a:p>
        </p:txBody>
      </p:sp>
      <p:pic>
        <p:nvPicPr>
          <p:cNvPr id="5" name="Picture 4" descr="s10_act4_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5120640" cy="2880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126480" y="1188720"/>
            <a:ext cx="5303520" cy="5120640"/>
          </a:xfrm>
          <a:prstGeom prst="roundRect">
            <a:avLst/>
          </a:prstGeom>
          <a:solidFill>
            <a:srgbClr val="161B24"/>
          </a:solidFill>
          <a:ln w="12700"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300" b="1">
                <a:solidFill>
                  <a:srgbClr val="FFB300"/>
                </a:solidFill>
              </a:defRPr>
            </a:pPr>
            <a:r>
              <a:t>KEY SHOT: SHOT 07.5  •  OBJECT DETAIL</a:t>
            </a:r>
          </a:p>
          <a:p>
            <a:pPr>
              <a:spcAft>
                <a:spcPts val="1000"/>
              </a:spcAft>
              <a:defRPr sz="1100" b="1">
                <a:solidFill>
                  <a:srgbClr val="26C6DA"/>
                </a:solidFill>
              </a:defRPr>
            </a:pPr>
            <a:r>
              <a:t>ASSET SOURCE: [Source: Archival Still + 2.5D Motion]</a:t>
            </a:r>
          </a:p>
          <a:p>
            <a:pPr>
              <a:spcAft>
                <a:spcPts val="800"/>
              </a:spcAft>
              <a:defRPr sz="1000">
                <a:solidFill>
                  <a:srgbClr val="F5F5F5"/>
                </a:solidFill>
              </a:defRPr>
            </a:pPr>
            <a:r>
              <a:t>🎬 Visual Direction:</a:t>
            </a:r>
            <a:br/>
            <a:r>
              <a:t>หน้าจอแจกเกมฟรีระดับ AAA (Far Cry 4, The Crew, Watch Dogs) พร้อมไฮไลต์ข้อความสละสิทธิ์ฟ้องร้องคดีแบบกลุ่ม</a:t>
            </a:r>
          </a:p>
          <a:p>
            <a:pPr>
              <a:spcAft>
                <a:spcPts val="800"/>
              </a:spcAft>
              <a:defRPr sz="1000">
                <a:solidFill>
                  <a:srgbClr val="A0AAB9"/>
                </a:solidFill>
              </a:defRPr>
            </a:pPr>
            <a:r>
              <a:t>🎙️ Narration Sync (Thai):</a:t>
            </a:r>
            <a:br/>
            <a:r>
              <a:t>“ยูบิซอฟต์แจกเกมเต็มฟอร์มยักษ์ฟรี 1 เกมให้ผู้ซื้อ Season Pass เพื่อแลกกับการที่ผู้เล่นต้องสละสิทธิ์การฟ้องร้องคดีแบบกลุ่ม...”</a:t>
            </a:r>
          </a:p>
          <a:p>
            <a:pPr>
              <a:defRPr sz="1000">
                <a:solidFill>
                  <a:srgbClr val="26C6DA"/>
                </a:solidFill>
              </a:defRPr>
            </a:pPr>
            <a:r>
              <a:t>🔊 Sound Design &amp; Music:</a:t>
            </a:r>
            <a:br/>
            <a:r>
              <a:t>เสียงคอร์ดสังเคราะห์ใส, เสียงประทับตรากฎหมาย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65760"/>
          </a:xfrm>
          <a:prstGeom prst="roundRect">
            <a:avLst/>
          </a:prstGeom>
          <a:solidFill>
            <a:srgbClr val="E53935"/>
          </a:solidFill>
          <a:ln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5F5"/>
                </a:solidFill>
              </a:defRPr>
            </a:pPr>
            <a:r>
              <a:t>ACT V: DEATH OF THE ANNUAL MACHINE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40480" y="365760"/>
            <a:ext cx="2560320" cy="365760"/>
          </a:xfrm>
          <a:prstGeom prst="roundRect">
            <a:avLst/>
          </a:prstGeom>
          <a:solidFill>
            <a:srgbClr val="161B24"/>
          </a:solidFill>
          <a:ln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6C6DA"/>
                </a:solidFill>
              </a:defRPr>
            </a:pPr>
            <a:r>
              <a:t>10:15 - 11:30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200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A0AAB9"/>
                </a:solidFill>
              </a:defRPr>
            </a:pPr>
            <a:r>
              <a:t>11 / 15</a:t>
            </a:r>
          </a:p>
        </p:txBody>
      </p:sp>
      <p:pic>
        <p:nvPicPr>
          <p:cNvPr id="5" name="Picture 4" descr="s11_act5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5120640" cy="2880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126480" y="1188720"/>
            <a:ext cx="5303520" cy="5120640"/>
          </a:xfrm>
          <a:prstGeom prst="roundRect">
            <a:avLst/>
          </a:prstGeom>
          <a:solidFill>
            <a:srgbClr val="161B24"/>
          </a:solidFill>
          <a:ln w="12700"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300" b="1">
                <a:solidFill>
                  <a:srgbClr val="FFB300"/>
                </a:solidFill>
              </a:defRPr>
            </a:pPr>
            <a:r>
              <a:t>KEY SHOT: SHOT 09.3  •  DATA VISUALIZATION</a:t>
            </a:r>
          </a:p>
          <a:p>
            <a:pPr>
              <a:spcAft>
                <a:spcPts val="1000"/>
              </a:spcAft>
              <a:defRPr sz="1100" b="1">
                <a:solidFill>
                  <a:srgbClr val="26C6DA"/>
                </a:solidFill>
              </a:defRPr>
            </a:pPr>
            <a:r>
              <a:t>ASSET SOURCE: [Source: Archival Still + 2.5D Motion]</a:t>
            </a:r>
          </a:p>
          <a:p>
            <a:pPr>
              <a:spcAft>
                <a:spcPts val="800"/>
              </a:spcAft>
              <a:defRPr sz="1000">
                <a:solidFill>
                  <a:srgbClr val="F5F5F5"/>
                </a:solidFill>
              </a:defRPr>
            </a:pPr>
            <a:r>
              <a:t>🎬 Visual Direction:</a:t>
            </a:r>
            <a:br/>
            <a:r>
              <a:t>กราฟแท่งเปรียบเทียบยอดขายสัปดาห์แรกในอังกฤษ: Syndicate ร่วงลงต่ำกว่า Unity ถึง 40% จากพิษแบรนด์ตกค้าง</a:t>
            </a:r>
          </a:p>
          <a:p>
            <a:pPr>
              <a:spcAft>
                <a:spcPts val="800"/>
              </a:spcAft>
              <a:defRPr sz="1000">
                <a:solidFill>
                  <a:srgbClr val="A0AAB9"/>
                </a:solidFill>
              </a:defRPr>
            </a:pPr>
            <a:r>
              <a:t>🎙️ Narration Sync (Thai):</a:t>
            </a:r>
            <a:br/>
            <a:r>
              <a:t>“แม้ Syndicate จะถูกขัดเกลามาอย่างดีและไร้บั๊ก แต่ยอดขายกลับดิ่งลง 40% เพราะผู้เล่นยังเข็ดขยาดจากความล้มเหลวของ Unity...”</a:t>
            </a:r>
          </a:p>
          <a:p>
            <a:pPr>
              <a:defRPr sz="1000">
                <a:solidFill>
                  <a:srgbClr val="26C6DA"/>
                </a:solidFill>
              </a:defRPr>
            </a:pPr>
            <a:r>
              <a:t>🔊 Sound Design &amp; Music:</a:t>
            </a:r>
            <a:br/>
            <a:r>
              <a:t>เสียงโทนข้อมูลดิ่งลง, ซับวูฟเฟอร์แผ่วเบา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65760"/>
          </a:xfrm>
          <a:prstGeom prst="roundRect">
            <a:avLst/>
          </a:prstGeom>
          <a:solidFill>
            <a:srgbClr val="E53935"/>
          </a:solidFill>
          <a:ln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5F5"/>
                </a:solidFill>
              </a:defRPr>
            </a:pPr>
            <a:r>
              <a:t>ACT V: DEATH OF THE ANNUAL MACHINE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40480" y="365760"/>
            <a:ext cx="2560320" cy="365760"/>
          </a:xfrm>
          <a:prstGeom prst="roundRect">
            <a:avLst/>
          </a:prstGeom>
          <a:solidFill>
            <a:srgbClr val="161B24"/>
          </a:solidFill>
          <a:ln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6C6DA"/>
                </a:solidFill>
              </a:defRPr>
            </a:pPr>
            <a:r>
              <a:t>11:30 - 12:45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200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A0AAB9"/>
                </a:solidFill>
              </a:defRPr>
            </a:pPr>
            <a:r>
              <a:t>12 / 15</a:t>
            </a:r>
          </a:p>
        </p:txBody>
      </p:sp>
      <p:pic>
        <p:nvPicPr>
          <p:cNvPr id="5" name="Picture 4" descr="s12_act5_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5120640" cy="2880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126480" y="1188720"/>
            <a:ext cx="5303520" cy="5120640"/>
          </a:xfrm>
          <a:prstGeom prst="roundRect">
            <a:avLst/>
          </a:prstGeom>
          <a:solidFill>
            <a:srgbClr val="161B24"/>
          </a:solidFill>
          <a:ln w="12700"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300" b="1">
                <a:solidFill>
                  <a:srgbClr val="FFB300"/>
                </a:solidFill>
              </a:defRPr>
            </a:pPr>
            <a:r>
              <a:t>KEY SHOT: SHOT 10.2  •  CINEMATIC RECONSTRUCTION</a:t>
            </a:r>
          </a:p>
          <a:p>
            <a:pPr>
              <a:spcAft>
                <a:spcPts val="1000"/>
              </a:spcAft>
              <a:defRPr sz="1100" b="1">
                <a:solidFill>
                  <a:srgbClr val="26C6DA"/>
                </a:solidFill>
              </a:defRPr>
            </a:pPr>
            <a:r>
              <a:t>ASSET SOURCE: [Source: YouTube Clip Cut]</a:t>
            </a:r>
          </a:p>
          <a:p>
            <a:pPr>
              <a:spcAft>
                <a:spcPts val="800"/>
              </a:spcAft>
              <a:defRPr sz="1000">
                <a:solidFill>
                  <a:srgbClr val="F5F5F5"/>
                </a:solidFill>
              </a:defRPr>
            </a:pPr>
            <a:r>
              <a:t>🎬 Visual Direction:</a:t>
            </a:r>
            <a:br/>
            <a:r>
              <a:t>ภาพบรรยากาศอียิปต์โบราณ พีระมิด และการรื้อระบบใหม่สู่เกมแอ็กชัน RPG ใน Assassin's Creed Origins (2017)</a:t>
            </a:r>
          </a:p>
          <a:p>
            <a:pPr>
              <a:spcAft>
                <a:spcPts val="800"/>
              </a:spcAft>
              <a:defRPr sz="1000">
                <a:solidFill>
                  <a:srgbClr val="A0AAB9"/>
                </a:solidFill>
              </a:defRPr>
            </a:pPr>
            <a:r>
              <a:t>🎙️ Narration Sync (Thai):</a:t>
            </a:r>
            <a:br/>
            <a:r>
              <a:t>“ผู้บริหารสั่งหยุดสายพานผลิตเกมรายปี พักปี 2016 หนึ่งปีเต็ม เพื่อยกเครื่องระบบใหม่ทั้งหมดจนเกิดเป็น Origins...”</a:t>
            </a:r>
          </a:p>
          <a:p>
            <a:pPr>
              <a:defRPr sz="1000">
                <a:solidFill>
                  <a:srgbClr val="26C6DA"/>
                </a:solidFill>
              </a:defRPr>
            </a:pPr>
            <a:r>
              <a:t>🔊 Sound Design &amp; Music:</a:t>
            </a:r>
            <a:br/>
            <a:r>
              <a:t>ท่วงทำนองเครื่องสายออร์เคสตราผสมขลุ่ยอียิปต์โบราณ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65760"/>
          </a:xfrm>
          <a:prstGeom prst="roundRect">
            <a:avLst/>
          </a:prstGeom>
          <a:solidFill>
            <a:srgbClr val="E53935"/>
          </a:solidFill>
          <a:ln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5F5"/>
                </a:solidFill>
              </a:defRPr>
            </a:pPr>
            <a:r>
              <a:t>ACT VI: ASHES OF NOTRE-DAME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40480" y="365760"/>
            <a:ext cx="2560320" cy="365760"/>
          </a:xfrm>
          <a:prstGeom prst="roundRect">
            <a:avLst/>
          </a:prstGeom>
          <a:solidFill>
            <a:srgbClr val="161B24"/>
          </a:solidFill>
          <a:ln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6C6DA"/>
                </a:solidFill>
              </a:defRPr>
            </a:pPr>
            <a:r>
              <a:t>12:45 - 13:55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200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A0AAB9"/>
                </a:solidFill>
              </a:defRPr>
            </a:pPr>
            <a:r>
              <a:t>13 / 15</a:t>
            </a:r>
          </a:p>
        </p:txBody>
      </p:sp>
      <p:pic>
        <p:nvPicPr>
          <p:cNvPr id="5" name="Picture 4" descr="s13_act6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5120640" cy="2880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126480" y="1188720"/>
            <a:ext cx="5303520" cy="5120640"/>
          </a:xfrm>
          <a:prstGeom prst="roundRect">
            <a:avLst/>
          </a:prstGeom>
          <a:solidFill>
            <a:srgbClr val="161B24"/>
          </a:solidFill>
          <a:ln w="12700"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300" b="1">
                <a:solidFill>
                  <a:srgbClr val="FFB300"/>
                </a:solidFill>
              </a:defRPr>
            </a:pPr>
            <a:r>
              <a:t>KEY SHOT: SHOT 11.1  •  DOCUMENTARY B-ROLL</a:t>
            </a:r>
          </a:p>
          <a:p>
            <a:pPr>
              <a:spcAft>
                <a:spcPts val="1000"/>
              </a:spcAft>
              <a:defRPr sz="1100" b="1">
                <a:solidFill>
                  <a:srgbClr val="26C6DA"/>
                </a:solidFill>
              </a:defRPr>
            </a:pPr>
            <a:r>
              <a:t>ASSET SOURCE: [Source: YouTube Clip Cut]</a:t>
            </a:r>
          </a:p>
          <a:p>
            <a:pPr>
              <a:spcAft>
                <a:spcPts val="800"/>
              </a:spcAft>
              <a:defRPr sz="1000">
                <a:solidFill>
                  <a:srgbClr val="F5F5F5"/>
                </a:solidFill>
              </a:defRPr>
            </a:pPr>
            <a:r>
              <a:t>🎬 Visual Direction:</a:t>
            </a:r>
            <a:br/>
            <a:r>
              <a:t>ฟุตเทจข่าว 15 เมษายน 2019 ไฟไหม้มหาวิหารน็อทร์-ดาม ยอดหอคอยถล่ม ตัดสลับภาพโมเดล 3D ที่สมบูรณ์แบบใน Unity</a:t>
            </a:r>
          </a:p>
          <a:p>
            <a:pPr>
              <a:spcAft>
                <a:spcPts val="800"/>
              </a:spcAft>
              <a:defRPr sz="1000">
                <a:solidFill>
                  <a:srgbClr val="A0AAB9"/>
                </a:solidFill>
              </a:defRPr>
            </a:pPr>
            <a:r>
              <a:t>🎙️ Narration Sync (Thai):</a:t>
            </a:r>
            <a:br/>
            <a:r>
              <a:t>“เมื่อยอดหอคอยน็อทร์-ดามถล่มลงสู่กองเพลิงในปี 2019 สายตาทั่วโลกก็หันกลับมามองโมเดล 3D ของ Unity ในฐานะบันทึกดิจิทัลที่สมบูรณ์ที่สุด...”</a:t>
            </a:r>
          </a:p>
          <a:p>
            <a:pPr>
              <a:defRPr sz="1000">
                <a:solidFill>
                  <a:srgbClr val="26C6DA"/>
                </a:solidFill>
              </a:defRPr>
            </a:pPr>
            <a:r>
              <a:t>🔊 Sound Design &amp; Music:</a:t>
            </a:r>
            <a:br/>
            <a:r>
              <a:t>เสียงไซเรนดับเพลิงไกลๆ, ผู้คนร้องเพลงสวดริมแม่น้ำแซน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65760"/>
          </a:xfrm>
          <a:prstGeom prst="roundRect">
            <a:avLst/>
          </a:prstGeom>
          <a:solidFill>
            <a:srgbClr val="E53935"/>
          </a:solidFill>
          <a:ln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5F5"/>
                </a:solidFill>
              </a:defRPr>
            </a:pPr>
            <a:r>
              <a:t>ACT VI: HISTORICAL VINDICATION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40480" y="365760"/>
            <a:ext cx="2560320" cy="365760"/>
          </a:xfrm>
          <a:prstGeom prst="roundRect">
            <a:avLst/>
          </a:prstGeom>
          <a:solidFill>
            <a:srgbClr val="161B24"/>
          </a:solidFill>
          <a:ln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6C6DA"/>
                </a:solidFill>
              </a:defRPr>
            </a:pPr>
            <a:r>
              <a:t>13:55 - 15:00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200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A0AAB9"/>
                </a:solidFill>
              </a:defRPr>
            </a:pPr>
            <a:r>
              <a:t>14 / 15</a:t>
            </a:r>
          </a:p>
        </p:txBody>
      </p:sp>
      <p:pic>
        <p:nvPicPr>
          <p:cNvPr id="5" name="Picture 4" descr="s14_act6_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5120640" cy="2880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126480" y="1188720"/>
            <a:ext cx="5303520" cy="5120640"/>
          </a:xfrm>
          <a:prstGeom prst="roundRect">
            <a:avLst/>
          </a:prstGeom>
          <a:solidFill>
            <a:srgbClr val="161B24"/>
          </a:solidFill>
          <a:ln w="12700"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300" b="1">
                <a:solidFill>
                  <a:srgbClr val="FFB300"/>
                </a:solidFill>
              </a:defRPr>
            </a:pPr>
            <a:r>
              <a:t>KEY SHOT: SHOT 12.1  •  TYPOGRAPHY QUOTE</a:t>
            </a:r>
          </a:p>
          <a:p>
            <a:pPr>
              <a:spcAft>
                <a:spcPts val="1000"/>
              </a:spcAft>
              <a:defRPr sz="1100" b="1">
                <a:solidFill>
                  <a:srgbClr val="26C6DA"/>
                </a:solidFill>
              </a:defRPr>
            </a:pPr>
            <a:r>
              <a:t>ASSET SOURCE: [Source: HyperFrames AI Generation]</a:t>
            </a:r>
          </a:p>
          <a:p>
            <a:pPr>
              <a:spcAft>
                <a:spcPts val="800"/>
              </a:spcAft>
              <a:defRPr sz="1000">
                <a:solidFill>
                  <a:srgbClr val="F5F5F5"/>
                </a:solidFill>
              </a:defRPr>
            </a:pPr>
            <a:r>
              <a:t>🎬 Visual Direction:</a:t>
            </a:r>
            <a:br/>
            <a:r>
              <a:t>ข้อความสรุปบนพื้นดำสนิท: 'ผลงานชิ้นเอกที่ติดอยู่ในฮาร์ดแวร์ที่ไม่พร้อม' ตัดสู่ภาพปารีส 4K 60FPS ยามค่ำคืน</a:t>
            </a:r>
          </a:p>
          <a:p>
            <a:pPr>
              <a:spcAft>
                <a:spcPts val="800"/>
              </a:spcAft>
              <a:defRPr sz="1000">
                <a:solidFill>
                  <a:srgbClr val="A0AAB9"/>
                </a:solidFill>
              </a:defRPr>
            </a:pPr>
            <a:r>
              <a:t>🎙️ Narration Sync (Thai):</a:t>
            </a:r>
            <a:br/>
            <a:r>
              <a:t>“Unity ไม่เคยเป็นเกมที่สร้างมาแย่ มันคือผลงานชิ้นเอกที่มาก่อนกาล... และความล้มเหลวในวันนั้น ห่างจากผลงานศิลปะเหนือกาลเวลา เพียงแค่เวลารอให้ฮาร์ดแวร์ตามทัน...”</a:t>
            </a:r>
          </a:p>
          <a:p>
            <a:pPr>
              <a:defRPr sz="1000">
                <a:solidFill>
                  <a:srgbClr val="26C6DA"/>
                </a:solidFill>
              </a:defRPr>
            </a:pPr>
            <a:r>
              <a:t>🔊 Sound Design &amp; Music:</a:t>
            </a:r>
            <a:br/>
            <a:r>
              <a:t>คอร์ดเปียโนกังวานเดี่ยว, เสียงลมราตรี, ความเงียบสนิท 5 วินาทีสุดท้าย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65760"/>
          </a:xfrm>
          <a:prstGeom prst="roundRect">
            <a:avLst/>
          </a:prstGeom>
          <a:solidFill>
            <a:srgbClr val="E53935"/>
          </a:solidFill>
          <a:ln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5F5"/>
                </a:solidFill>
              </a:defRPr>
            </a:pPr>
            <a:r>
              <a:t>PRODUCTION SPECIFICATIONS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40480" y="365760"/>
            <a:ext cx="2560320" cy="365760"/>
          </a:xfrm>
          <a:prstGeom prst="roundRect">
            <a:avLst/>
          </a:prstGeom>
          <a:solidFill>
            <a:srgbClr val="161B24"/>
          </a:solidFill>
          <a:ln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6C6DA"/>
                </a:solidFill>
              </a:defRPr>
            </a:pPr>
            <a:r>
              <a:t>Master Pipeline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200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A0AAB9"/>
                </a:solidFill>
              </a:defRPr>
            </a:pPr>
            <a:r>
              <a:t>15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FFB300"/>
                </a:solidFill>
              </a:defRPr>
            </a:pPr>
            <a:r>
              <a:t>EXECUTIVE PRODUCTION DELIVERABLES</a:t>
            </a:r>
          </a:p>
          <a:p>
            <a:pPr>
              <a:defRPr sz="1100" b="1">
                <a:solidFill>
                  <a:srgbClr val="26C6DA"/>
                </a:solidFill>
              </a:defRPr>
            </a:pPr>
            <a:r>
              <a:t>File 1: 1_HyperFrames_Video_Prompts.txt</a:t>
            </a:r>
          </a:p>
          <a:p>
            <a:pPr>
              <a:spcAft>
                <a:spcPts val="800"/>
              </a:spcAft>
              <a:defRPr sz="950">
                <a:solidFill>
                  <a:srgbClr val="F5F5F5"/>
                </a:solidFill>
              </a:defRPr>
            </a:pPr>
            <a:r>
              <a:t>ไทม์ไลน์เป๊ะ 00:00 - 15:00 (900.0 วินาที ไม่มีช่องว่าง) แยก 3 แหล่งที่มา (HyperFrames, YouTube Cut, Archival 2.5D)</a:t>
            </a:r>
          </a:p>
          <a:p>
            <a:pPr>
              <a:defRPr sz="1100" b="1">
                <a:solidFill>
                  <a:srgbClr val="26C6DA"/>
                </a:solidFill>
              </a:defRPr>
            </a:pPr>
            <a:r>
              <a:t>File 2: 2_Voiceover_Script_15Min.txt</a:t>
            </a:r>
          </a:p>
          <a:p>
            <a:pPr>
              <a:spcAft>
                <a:spcPts val="800"/>
              </a:spcAft>
              <a:defRPr sz="950">
                <a:solidFill>
                  <a:srgbClr val="F5F5F5"/>
                </a:solidFill>
              </a:defRPr>
            </a:pPr>
            <a:r>
              <a:t>บทบรรยายภาษาไทย 15 นาที จังหวะสุขุม 125-130 WPM อธิบายศัพท์เทคนิคด้วยภาพจำลอง เข้าใจง่าย ลื่นไหล</a:t>
            </a:r>
          </a:p>
          <a:p>
            <a:pPr>
              <a:defRPr sz="1100" b="1">
                <a:solidFill>
                  <a:srgbClr val="26C6DA"/>
                </a:solidFill>
              </a:defRPr>
            </a:pPr>
            <a:r>
              <a:t>File 3: 3_Storyboard_Presentation.pptx</a:t>
            </a:r>
          </a:p>
          <a:p>
            <a:pPr>
              <a:spcAft>
                <a:spcPts val="800"/>
              </a:spcAft>
              <a:defRPr sz="950">
                <a:solidFill>
                  <a:srgbClr val="F5F5F5"/>
                </a:solidFill>
              </a:defRPr>
            </a:pPr>
            <a:r>
              <a:t>สไลด์ขนาด 16:9 ทั้งหมด 15 สไลด์ พร้อม Screenshot Mockup ภาพจริงฝังลงในทุกสไลด์อย่างสวยงาม</a:t>
            </a:r>
          </a:p>
          <a:p>
            <a:pPr>
              <a:defRPr sz="1100" b="1">
                <a:solidFill>
                  <a:srgbClr val="26C6DA"/>
                </a:solidFill>
              </a:defRPr>
            </a:pPr>
            <a:r>
              <a:t>Google Drive Master Folder</a:t>
            </a:r>
          </a:p>
          <a:p>
            <a:pPr>
              <a:spcAft>
                <a:spcPts val="800"/>
              </a:spcAft>
              <a:defRPr sz="950">
                <a:solidFill>
                  <a:srgbClr val="F5F5F5"/>
                </a:solidFill>
              </a:defRPr>
            </a:pPr>
            <a:r>
              <a:t>[LEMiNO Production] Assassin's Creed Unity - 30-Min Master Package (พร้อมไฟล์อัปเดตครบทั้ง 3 ไฟล์)</a:t>
            </a:r>
          </a:p>
        </p:txBody>
      </p:sp>
      <p:pic>
        <p:nvPicPr>
          <p:cNvPr id="6" name="Picture 5" descr="s15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80160"/>
            <a:ext cx="5029200" cy="28289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