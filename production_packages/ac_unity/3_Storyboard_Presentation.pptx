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 b="1">
                <a:solidFill>
                  <a:srgbClr val="E53935"/>
                </a:solidFill>
              </a:defRPr>
            </a:pPr>
            <a:r>
              <a:t>LEMiNO DOCUMENTARY STORYBOARD SPECIFICATION</a:t>
            </a:r>
          </a:p>
          <a:p>
            <a:pPr>
              <a:defRPr sz="4000" b="1">
                <a:solidFill>
                  <a:srgbClr val="F0F3F6"/>
                </a:solidFill>
              </a:defRPr>
            </a:pPr>
            <a:r>
              <a:t>ASSASSIN'S CREED: UNITY</a:t>
            </a:r>
          </a:p>
          <a:p>
            <a:pPr>
              <a:spcAft>
                <a:spcPts val="2800"/>
              </a:spcAft>
              <a:defRPr sz="2000">
                <a:solidFill>
                  <a:srgbClr val="FFB300"/>
                </a:solidFill>
              </a:defRPr>
            </a:pPr>
            <a:r>
              <a:t>The Missing Faces, The 1:1 Paris Engine &amp; The Fall of the Annual Franchise (2014–2019)</a:t>
            </a:r>
          </a:p>
          <a:p>
            <a:pPr>
              <a:defRPr sz="1200">
                <a:solidFill>
                  <a:srgbClr val="96A0AF"/>
                </a:solidFill>
              </a:defRPr>
            </a:pPr>
            <a:r>
              <a:t>Runtime: 30:00 (6 Acts)  |  Architecture: 15 LEMiNO Shot Types  |  HyperFrames Pacing: 3-7s per Shot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FRAMEWORK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LEMiNO Production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02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0F3F6"/>
                </a:solidFill>
              </a:defRPr>
            </a:pPr>
            <a:r>
              <a:t>15 Shot Taxonomy &amp; Visual Storytelling Engine (Data + Mood + Pace)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1. Cinematic Establishing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ตั้งสถานที่ / สร้างบรรยากาศ / เปิดหัวเรื่อง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2. Archival / Evidence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เอกสารจริง / ภาพถ่ายเก่า / หลักฐานประวัติศาสตร์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9184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3. Documentary B-roll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ภาพเหตุการณ์จริง / วิดีโอข่าว / ฟุตเทจสาธารณะ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11480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4. Map / Location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แผนที่ 2.5D / เส้นทาง / พิกัดดาวเทียม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93776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5. Timeline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ลำดับเวลา / หมุดเหตุการณ์ / กราฟปี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64592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6. Diagram / Explainer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แผนภาพ 3D / สถาปัตยกรรม / เอนจินจำลอง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246888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7. Cinematic Reconstruction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จำลองเหตุการณ์ / บรรยากาศสมมติ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329184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8. Portrait / Subject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บุคคลสำคัญ / ภาพผู้พัฒนา / สัมภาษณ์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411480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9. Typography / Quote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ข้อความสำคัญ / ตัวเลขเน้น / คำพูดสำคัญ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493776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10. Data Visualization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กราฟสถิติ / เปรียบเทียบข้อมูล / แผนภูมิ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64592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11. Object / Detail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วัตถุใกล้ตัว / ร่องรอย / ดีเทลมาโคร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246888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12. Abstract / Concept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แนวคิดเชิงสัญลักษณ์ / นามธรรม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329184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13. Transition / Chapter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ป้ายเปิดบทใหม่ / โมชันกราฟิกคั่นตอน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411480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14. Montage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ภาพร้อยเรียงจังหวะเร็ว / สรุปประเด็นมวลรวม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4937760"/>
            <a:ext cx="3383280" cy="73152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B300"/>
                </a:solidFill>
              </a:defRPr>
            </a:pPr>
            <a:r>
              <a:t>15. Ending / Open Question</a:t>
            </a:r>
          </a:p>
          <a:p>
            <a:pPr>
              <a:defRPr sz="950">
                <a:solidFill>
                  <a:srgbClr val="96A0AF"/>
                </a:solidFill>
              </a:defRPr>
            </a:pPr>
            <a:r>
              <a:t>ปิดท้าย / ทิ้งคำถามชวนคิด / ข้อคิดทรงพลัง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1: THE FRENCH REVOLUTION DREAM (PART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00:00 - 02:30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03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01.1  •  CINEMATIC ESTABLISHING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Drone sweep over 18th-century Paris at dawn, fog swirling through chimneys toward distant Notre-Dame silhouette.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PARIS, FRANCE — 1789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Distant church bells, low ambient morning wind drone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01.2  •  DOCUMENTARY B-ROLL</a:t>
            </a:r>
            <a:r>
              <a:rPr sz="1000" b="0">
                <a:solidFill>
                  <a:srgbClr val="26C6DA"/>
                </a:solidFill>
              </a:rPr>
              <a:t>  [4.5s]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Cobblestones of Paris alley, trampled revolutionary tricolor ribbon soaked in rain puddle as boots march past.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REVOLUTIONARY TENSIONS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Muddy boots splashing, distant muffled protest chants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01.3  •  ARCHIVAL EVIDENCE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Historical 1789 copperplate engraving of the Bastille storming with slow 2.5D parallax separation of cannon smoke.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BASTILLE ENGRAVING — 14 JULY 1789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Vintage parchment creak, muffled distant cannon thud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1: THE FRENCH REVOLUTION DREAM (PART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02:30 - 05:00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04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02.1  •  ARCHIVAL EVIDENCE</a:t>
            </a:r>
            <a:r>
              <a:rPr sz="1000" b="0">
                <a:solidFill>
                  <a:srgbClr val="26C6DA"/>
                </a:solidFill>
              </a:rPr>
              <a:t>  [5.5s]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E3 2014 Los Angeles Convention Center stage, giant LED display glowing in blue darkness with Ubisoft logo.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LOS ANGELES — JUNE 9, 2014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Auditorium crowd murmur, camera flash clicks, brass fanfare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02.2  •  DIAGRAM EXPLAINER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3D wireframe schematic of Paris street showing 1 in 4 buildings with glowing cutaways revealing seamless interiors.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ANVILNEXT 2.0 // 1:1 SCALE // SEAMLESS INTERIORS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Digital grid scanning frequency, subtle mechanical ticks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03.1  •  PORTRAIT / SUBJECT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Caroline Miousse at Ubisoft Montreal workstation, dual screens displaying Notre-Dame wireframe gargoyles.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CAROLINE MIOUSSE // SENIOR LEVEL ARTIST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Soft keyboard clicks, warm contemplative string pad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2: THE NO-FACE NIGHTMARE (PART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05:00 - 07:30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05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04.1  •  TIMELINE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Glowing timeline cursor slides from June 2014 to November 11, 2014 with red warning beacon flashing.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NOVEMBER 11, 2014 — GLOBAL LAUNCH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High-speed mechanical ticker, sudden bass thud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04.2  •  ARCHIVAL EVIDENCE</a:t>
            </a:r>
            <a:r>
              <a:rPr sz="1000" b="0">
                <a:solidFill>
                  <a:srgbClr val="26C6DA"/>
                </a:solidFill>
              </a:rPr>
              <a:t>  [6.5s]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CRT monitor screen display of the infamous 'No-Face' glitch: character with missing skin, floating eyeballs and gums.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TEXTURE STREAMING FAILURE // VIRAL GLITCH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Tape hiss, muffled dialogue, dissonant electronic buzz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04.3  •  MONTAGE</a:t>
            </a:r>
            <a:r>
              <a:rPr sz="1000" b="0">
                <a:solidFill>
                  <a:srgbClr val="26C6DA"/>
                </a:solidFill>
              </a:rPr>
              <a:t>  [4.5s]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Rapid collage of Reddit r/gaming threads, YouTube video thumbnails, and Twitter memes mocking launch bugs.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GLOBAL VIRAL BACKLASH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Rapid shutter clicks, notification beeps, chaotic strings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2: THE NO-FACE NIGHTMARE (PART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07:30 - 10:00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06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05.1  •  DATA VISUALIZATION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Digital Foundry split-screen: Crowd riot gameplay alongside real-time framerate graph plunging from 30 to 15.2 FPS.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PS4 PERFORMANCE BENCHMARK // 15.2 FPS CROWD SCENE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Digital telemetry beeps, stuttering audio simulation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05.2  •  OBJECT DETAIL</a:t>
            </a:r>
            <a:r>
              <a:rPr sz="1000" b="0">
                <a:solidFill>
                  <a:srgbClr val="26C6DA"/>
                </a:solidFill>
              </a:rPr>
              <a:t>  [4.5s]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UI close-up showing microtransaction store: '1,400 Helix Credits for $19.99' and locked golden chest with app sync error.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$60 FULL-PRICED TITLE // HELIX CREDITS STORE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Distorted cash register ding, low descending bass drone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05.3  •  DATA VISUALIZATION</a:t>
            </a:r>
            <a:r>
              <a:rPr sz="1000" b="0">
                <a:solidFill>
                  <a:srgbClr val="26C6DA"/>
                </a:solidFill>
              </a:rPr>
              <a:t>  [5.5s]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Ubisoft stock chart (EPA: UBI) showing sharp 9.3% drop in 48 hours following catastrophic launch reviews.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UBISOFT STOCK (UBI) // -9.3% IN 48 HOURS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Stock ticker murmur, descending low warning alarm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3: THE FORENSIC CODE BREAKDOWN (PART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10:00 - 13:00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07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06.1  •  TRANSITION CHAPTER</a:t>
            </a:r>
            <a:r>
              <a:rPr sz="1000" b="0">
                <a:solidFill>
                  <a:srgbClr val="26C6DA"/>
                </a:solidFill>
              </a:rPr>
              <a:t>  [4.0s]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Minimalist dark title card: 'ACT III: THE FORENSIC CODE BREAKDOWN', technical CAD lines expanding.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HARDWARE FORENSICS // ANVILNEXT 2.0 VS SILICON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Heavy sub impact, electronic processing hum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06.2  •  DIAGRAM EXPLAINER</a:t>
            </a:r>
            <a:r>
              <a:rPr sz="1000" b="0">
                <a:solidFill>
                  <a:srgbClr val="26C6DA"/>
                </a:solidFill>
              </a:rPr>
              <a:t>  [7.0s]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3D exploded view of custom AMD Jaguar APU inside PS4/Xbox One, showing 8 CPU cores overwhelmed by 5,000 crowd AI.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AMD JAGUAR 8-CORE CPU // 1.6 GHz // 100% SATURATION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Data bus streaming sfx, high-frequency digital whine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06.3  •  DIAGRAM EXPLAINER</a:t>
            </a:r>
            <a:r>
              <a:rPr sz="1000" b="0">
                <a:solidFill>
                  <a:srgbClr val="26C6DA"/>
                </a:solidFill>
              </a:rPr>
              <a:t>  [6.5s]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DirectX 11 API flow diagram showing 50,000 Draw Calls per frame overflowing the single-thread command buffer queue.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DIRECTX 11 DRAW CALL OVERFLOW // &gt;50,000 CALLS/FRAME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Rapid pulse clicks, buffer overflow error tone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3: THE FORENSIC CODE BREAKDOWN (PART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13:00 - 16:00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08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07.1  •  TYPOGRAPHY QUOTE</a:t>
            </a:r>
            <a:r>
              <a:rPr sz="1000" b="0">
                <a:solidFill>
                  <a:srgbClr val="26C6DA"/>
                </a:solidFill>
              </a:rPr>
              <a:t>  [5.5s]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Dark matte screen with quote from Senior Producer Vincent Pontbriand on locking console resolution to 900p.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“WE DECIDED TO LOCK AT 900p TO AVOID ALL DEBATES.”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Single heavy piano chord, subtle vinyl static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07.2  •  DATA VISUALIZATION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Comparative pixel grid: Native 1080p (2.07M pixels) vs 900p (1.44M pixels), showing a 30.5% resolution deficit.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900p RESOLUTION COMPROMISE // -30.5% PIXELS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Electronic measurement clicks, low bass drone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07.3  •  CINEMATIC RECONSTRUCTION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Arno standing on damp rooftop looking across foggy Paris, rain falling as lighting engines flicker between LOD states.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VISUAL AMBITION VS HARDWARE CEILING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Rain on slate tiles, melancholic cello progression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4: THE APOLOGY &amp; CORPORATE CONCESSIONS (PART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16:00 - 18:30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09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08.1  •  ARCHIVAL EVIDENCE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Official open letter by Ubisoft Montreal CEO Yannis Mallat on company website, camera tracking into apology paragraph.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OFFICIAL APOLOGY LETTER // NOVEMBER 26, 2014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Soft page turn, melancholic acoustic cello melody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08.2  •  ABSTRACT CONCEPT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Golden scales of justice resting on black marble, balancing corporate liability gavel against a digital game disc.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AVOIDING CLASS-ACTION LITIGATION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Deep reverberant tone, steady clock ticking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08.3  •  OBJECT DETAIL</a:t>
            </a:r>
            <a:r>
              <a:rPr sz="1000" b="0">
                <a:solidFill>
                  <a:srgbClr val="26C6DA"/>
                </a:solidFill>
              </a:rPr>
              <a:t>  [5.5s]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Promotional banner of Dead Kings expansion with prominent stamp: 'NOW 100% FREE FOR ALL PLAYERS'.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DEAD KINGS EXPANSION // PERMANENTLY FREE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Digital whoosh, soft positive affirmation chime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4: THE APOLOGY &amp; CORPORATE CONCESSIONS (PART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18:30 - 21:00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10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09.1  •  OBJECT DETAIL</a:t>
            </a:r>
            <a:r>
              <a:rPr sz="1000" b="0">
                <a:solidFill>
                  <a:srgbClr val="26C6DA"/>
                </a:solidFill>
              </a:rPr>
              <a:t>  [5.5s]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Digital showcase of free AAA games: Far Cry 4, The Crew, Watch Dogs, Rayman Legends for Season Pass holders.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FREE AAA GAME REPLACEMENT SELECTION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Electronic chime, clean game cover transition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09.2  •  ARCHIVAL EVIDENCE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Macro zoom on redemption agreement fine print: Clause waiving user right to participate in class-action lawsuits.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MANDATORY LEGAL LIABILITY WAIVER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Low warning drone, heavy stamp impact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09.3  •  DATA VISUALIZATION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Financial calculation infographic showing tens of millions of dollars in lost DLC revenue to extinguish legal liabilities.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ESTIMATED CONCESSION COST: &gt;$30,000,000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Data counter ticks, deep resolving chord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5: THE DEATH OF THE ANNUAL MACHINE (PART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21:00 - 23:30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11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10.1  •  TIMELINE</a:t>
            </a:r>
            <a:r>
              <a:rPr sz="1000" b="0">
                <a:solidFill>
                  <a:srgbClr val="26C6DA"/>
                </a:solidFill>
              </a:rPr>
              <a:t>  [6.5s]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3D industrial conveyor belt with annual game boxes (2007-2014); heavy gear jams with sparks flying at year 2014.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7 YEARS OF ANNUAL CRUNCH // 2007 - 2014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Mechanical conveyor clanking, loud gear grind and screech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10.2  •  DATA VISUALIZATION</a:t>
            </a:r>
            <a:r>
              <a:rPr sz="1000" b="0">
                <a:solidFill>
                  <a:srgbClr val="26C6DA"/>
                </a:solidFill>
              </a:rPr>
              <a:t>  [5.5s]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UK opening week sales bar chart comparing Unity vs Syndicate (2015), showing Syndicate bar plunging down by 40%.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AC SYNDICATE (2015) // -40% OPENING SALES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Descending telemetry tone, muted low drone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10.3  •  ARCHIVAL EVIDENCE</a:t>
            </a:r>
            <a:r>
              <a:rPr sz="1000" b="0">
                <a:solidFill>
                  <a:srgbClr val="26C6DA"/>
                </a:solidFill>
              </a:rPr>
              <a:t>  [4.5s]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Gaming news headlines from late 2015: 'Assassin's Creed Brand Suffering Fatigue After Unity Disaster'.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BRAND TRUST COLLAPSE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Paper rustle, camera flash, tense string sustain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5: THE DEATH OF THE ANNUAL MACHINE (PART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23:30 - 26:00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12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11.1  •  PORTRAIT / SUBJECT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Silhouette of Ubisoft developer looking out snowy Montreal high-rise window, blue-hour twilight.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FEBRUARY 2016 // HISTORIC CORPORATE SHIFT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Cold wind outside, warm contemplative piano chord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11.2  •  CINEMATIC RECONSTRUCTION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Timelapse of artists redesigning RPG systems, combat mechanics, and Egyptian landscapes for Assassin's Creed Origins.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ASSASSIN'S CREED ORIGINS // 1-YEAR HIATUS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Sweeping orchestral strings, ethnic flute melody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11.3  •  TYPOGRAPHY QUOTE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Stark black screen with quote on creative renewal and breaking the toxic annual pipeline.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“THE CATALYST THAT BROKE THE ANNUAL CYCLE.”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Deep sub impact, resonant chime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6: THE ASHES OF NOTRE-DAME (PART 1)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26:00 - 28:00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13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12.1  •  DOCUMENTARY B-ROLL</a:t>
            </a:r>
            <a:r>
              <a:rPr sz="1000" b="0">
                <a:solidFill>
                  <a:srgbClr val="26C6DA"/>
                </a:solidFill>
              </a:rPr>
              <a:t>  [5.5s]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Archival news footage from April 15, 2019: Notre-Dame roof engulfed in smoke, crowds weeping and singing hymns along Seine.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PARIS, FRANCE // APRIL 15, 2019 // NOTRE-DAME FIRE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Distant sirens wailing, weeping crowd singing, fire crackle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12.2  •  OBJECT DETAIL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Archival footage of the 300-foot lead spire collapsing into the burning timber attic in shower of sparks.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COLLAPSE OF THE 300-FOOT HISTORIC SPIRE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Heavy structural groan, thunderous collapse, crowd gasps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12.3  •  ARCHIVAL EVIDENCE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International news headlines (BBC, Le Figaro, CNN) citing Unity's 3D photogrammetric scans as critical preservation archives.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ARCHITECTURAL PRESERVATION RECORD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Subtle camera shutter, solemn cello chord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ACT 6: THE ASHES OF NOTRE-DAME (PART 2)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28:00 - 30:00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14 / 15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13.1  •  CINEMATIC RECONSTRUCTION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Seamless match-cut from real collapsed spire to pristine virtual 3D spire in Unity, golden sunlight reflecting off copper rooster.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DIGITAL IMMORTALITY // NOTRE-DAME IN UNITY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Glorious cathedral organ chord, lingering sacred reverb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13.2  •  DATA VISUALIZATION</a:t>
            </a:r>
            <a:r>
              <a:rPr sz="1000" b="0">
                <a:solidFill>
                  <a:srgbClr val="26C6DA"/>
                </a:solidFill>
              </a:rPr>
              <a:t>  [5.0s]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Infographic of Ubisoft's €500,000 restoration donation alongside 3,000,000 free PC copies downloaded in tribute week.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UBISOFT TRIBUTE // €500k DONATION // 3.0M DOWNLOADS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Gentle electronic chime, warm orchestral harmony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097280"/>
            <a:ext cx="3429000" cy="5303520"/>
          </a:xfrm>
          <a:prstGeom prst="roundRect">
            <a:avLst/>
          </a:prstGeom>
          <a:solidFill>
            <a:srgbClr val="181C26"/>
          </a:solidFill>
          <a:ln w="12700"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83880" y="1188720"/>
            <a:ext cx="3154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B300"/>
                </a:solidFill>
              </a:defRPr>
            </a:pPr>
            <a:r>
              <a:t>SHOT 13.3  •  ENDING OPEN QUESTION</a:t>
            </a:r>
            <a:r>
              <a:rPr sz="1000" b="0">
                <a:solidFill>
                  <a:srgbClr val="26C6DA"/>
                </a:solidFill>
              </a:rPr>
              <a:t>  [6.0s]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80" y="1554480"/>
            <a:ext cx="31546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950">
                <a:solidFill>
                  <a:srgbClr val="F0F3F6"/>
                </a:solidFill>
              </a:defRPr>
            </a:pPr>
            <a:r>
              <a:t>🎬 Visual: Twilight panorama of revolutionary Paris from above the clouds, thousands of torchlights slowly fading into night sky.</a:t>
            </a:r>
          </a:p>
          <a:p>
            <a:pPr>
              <a:spcAft>
                <a:spcPts val="400"/>
              </a:spcAft>
              <a:defRPr sz="900">
                <a:solidFill>
                  <a:srgbClr val="96A0AF"/>
                </a:solidFill>
              </a:defRPr>
            </a:pPr>
            <a:r>
              <a:t>🏷️ Graphic: WHAT REMAINS WHEN THE CODE COOLS?</a:t>
            </a:r>
          </a:p>
          <a:p>
            <a:pPr>
              <a:defRPr sz="900">
                <a:solidFill>
                  <a:srgbClr val="26C6DA"/>
                </a:solidFill>
              </a:defRPr>
            </a:pPr>
            <a:r>
              <a:t>🔊 Sound: Final choir fadeout, silent night wind, 5s dead silence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2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457200"/>
            <a:ext cx="2560320" cy="365760"/>
          </a:xfrm>
          <a:prstGeom prst="roundRect">
            <a:avLst/>
          </a:prstGeom>
          <a:solidFill>
            <a:srgbClr val="E53935"/>
          </a:solidFill>
          <a:ln>
            <a:solidFill>
              <a:srgbClr val="E539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0F3F6"/>
                </a:solidFill>
              </a:defRPr>
            </a:pPr>
            <a:r>
              <a:t>PRODUCTION SPECIFICATIONS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383280" y="457200"/>
            <a:ext cx="2011680" cy="36576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6C6DA"/>
                </a:solidFill>
              </a:defRPr>
            </a:pPr>
            <a:r>
              <a:t>Deliverables &amp; Asset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0" y="41148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 b="1">
                <a:solidFill>
                  <a:srgbClr val="96A0AF"/>
                </a:solidFill>
              </a:defRPr>
            </a:pPr>
            <a:r>
              <a:t>15 /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00584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0F3F6"/>
                </a:solidFill>
              </a:defRPr>
            </a:pPr>
            <a:r>
              <a:t>Master HyperFrames Pipeline &amp; Audio-Visual Production Checklist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FFB300"/>
                </a:solidFill>
              </a:defRPr>
            </a:pPr>
            <a:r>
              <a:t>HyperFrames Settings</a:t>
            </a:r>
          </a:p>
          <a:p>
            <a:pPr>
              <a:defRPr sz="1000">
                <a:solidFill>
                  <a:srgbClr val="F0F3F6"/>
                </a:solidFill>
              </a:defRPr>
            </a:pPr>
            <a:r>
              <a:t>Resolution: 4K UHD (3840x2160)</a:t>
            </a:r>
            <a:br/>
            <a:r>
              <a:t>Framerate: 24 FPS (Cinematic standard)</a:t>
            </a:r>
            <a:br/>
            <a:r>
              <a:t>Pacing: 3.5s - 6.5s per shot transition</a:t>
            </a:r>
            <a:br/>
            <a:r>
              <a:t>Aspect Ratio: 16:9 Widescreen</a:t>
            </a:r>
            <a:br/>
            <a:r>
              <a:t>Color Space: Rec.709 with film-grain pass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645920"/>
            <a:ext cx="2514600" cy="457200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FFB300"/>
                </a:solidFill>
              </a:defRPr>
            </a:pPr>
            <a:r>
              <a:t>Audio &amp; Sound Design</a:t>
            </a:r>
          </a:p>
          <a:p>
            <a:pPr>
              <a:defRPr sz="1000">
                <a:solidFill>
                  <a:srgbClr val="F0F3F6"/>
                </a:solidFill>
              </a:defRPr>
            </a:pPr>
            <a:r>
              <a:t>Voiceover: Natural Thai narration (120-135 WPM)</a:t>
            </a:r>
            <a:br/>
            <a:r>
              <a:t>Score: Low ambient cello, cathedral organ, minimal bass</a:t>
            </a:r>
            <a:br/>
            <a:r>
              <a:t>SFX: Authentic crowds, footsteps, tape hiss, draw call ticks</a:t>
            </a:r>
            <a:br/>
            <a:r>
              <a:t>Dynamics: -14 LUFS broadcast standard mastering</a:t>
            </a:r>
            <a:br/>
            <a:r>
              <a:t>Silence: 5-second complete dead air finale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645920"/>
            <a:ext cx="2514600" cy="457200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FFB300"/>
                </a:solidFill>
              </a:defRPr>
            </a:pPr>
            <a:r>
              <a:t>Visual Style Guide</a:t>
            </a:r>
          </a:p>
          <a:p>
            <a:pPr>
              <a:defRPr sz="1000">
                <a:solidFill>
                  <a:srgbClr val="F0F3F6"/>
                </a:solidFill>
              </a:defRPr>
            </a:pPr>
            <a:r>
              <a:t>Palette: Slate blue (#1A237E), Charcoal (#12151A), Gold (#FFA000)</a:t>
            </a:r>
            <a:br/>
            <a:r>
              <a:t>Textures: 18th-century stone photogrammetry, CRT scanlines</a:t>
            </a:r>
            <a:br/>
            <a:r>
              <a:t>Data Viz: Minimalist CAD lines, glowing cyan vectors</a:t>
            </a:r>
            <a:br/>
            <a:r>
              <a:t>Typography: Clean serif quotes, high-contrast monospace tags</a:t>
            </a:r>
            <a:br/>
            <a:r>
              <a:t>Rules: Avoid jump-cuts; maintain continuous spatial orientation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3960" y="1645920"/>
            <a:ext cx="2514600" cy="4572000"/>
          </a:xfrm>
          <a:prstGeom prst="roundRect">
            <a:avLst/>
          </a:prstGeom>
          <a:solidFill>
            <a:srgbClr val="181C26"/>
          </a:solidFill>
          <a:ln>
            <a:solidFill>
              <a:srgbClr val="2D3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200"/>
              </a:spcAft>
              <a:defRPr sz="1200" b="1">
                <a:solidFill>
                  <a:srgbClr val="FFB300"/>
                </a:solidFill>
              </a:defRPr>
            </a:pPr>
            <a:r>
              <a:t>Deliverable Assets</a:t>
            </a:r>
          </a:p>
          <a:p>
            <a:pPr>
              <a:defRPr sz="1000">
                <a:solidFill>
                  <a:srgbClr val="F0F3F6"/>
                </a:solidFill>
              </a:defRPr>
            </a:pPr>
            <a:r>
              <a:t>File 1: 1_HyperFrames_Video_Prompts.txt (Detailed Prompt Spec)</a:t>
            </a:r>
            <a:br/>
            <a:r>
              <a:t>File 2: 2_Voiceover_Script_30Min.txt (Line-by-Line Narration)</a:t>
            </a:r>
            <a:br/>
            <a:r>
              <a:t>File 3: 3_Storyboard_Presentation.pptx (15-Slide Presentation)</a:t>
            </a:r>
            <a:br/>
            <a:r>
              <a:t>Drive Folder: [LEMiNO Production] Assassin's Creed Unity</a:t>
            </a:r>
            <a:br/>
            <a:r>
              <a:t>Status: Complete &amp; Production-Ready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